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>
        <p:scale>
          <a:sx n="118" d="100"/>
          <a:sy n="118" d="100"/>
        </p:scale>
        <p:origin x="3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027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5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3" Type="http://schemas.openxmlformats.org/officeDocument/2006/relationships/image" Target="../media/image1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1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26" Type="http://schemas.openxmlformats.org/officeDocument/2006/relationships/image" Target="../media/image119.png"/><Relationship Id="rId3" Type="http://schemas.openxmlformats.org/officeDocument/2006/relationships/image" Target="../media/image1.png"/><Relationship Id="rId21" Type="http://schemas.openxmlformats.org/officeDocument/2006/relationships/image" Target="../media/image114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5" Type="http://schemas.openxmlformats.org/officeDocument/2006/relationships/image" Target="../media/image11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24" Type="http://schemas.openxmlformats.org/officeDocument/2006/relationships/image" Target="../media/image117.png"/><Relationship Id="rId5" Type="http://schemas.openxmlformats.org/officeDocument/2006/relationships/image" Target="../media/image98.png"/><Relationship Id="rId15" Type="http://schemas.openxmlformats.org/officeDocument/2006/relationships/image" Target="../media/image108.png"/><Relationship Id="rId23" Type="http://schemas.openxmlformats.org/officeDocument/2006/relationships/image" Target="../media/image116.png"/><Relationship Id="rId28" Type="http://schemas.openxmlformats.org/officeDocument/2006/relationships/image" Target="../media/image121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4" Type="http://schemas.openxmlformats.org/officeDocument/2006/relationships/image" Target="../media/image84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Relationship Id="rId22" Type="http://schemas.openxmlformats.org/officeDocument/2006/relationships/image" Target="../media/image115.png"/><Relationship Id="rId27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0"/>
            <a:ext cx="73152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0"/>
            <a:ext cx="914400" cy="68580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62000" y="938213"/>
            <a:ext cx="5791200" cy="3571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Интеллектуальная система
</a:t>
            </a:r>
            <a:r>
              <a:rPr lang="en-US" sz="4500" b="1" dirty="0">
                <a:solidFill>
                  <a:srgbClr val="7FB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тестирования</a:t>
            </a:r>
            <a:r>
              <a:rPr lang="en-US" sz="4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управления кампусом</a:t>
            </a:r>
            <a:endParaRPr lang="en-US" sz="4500" dirty="0"/>
          </a:p>
        </p:txBody>
      </p:sp>
      <p:sp>
        <p:nvSpPr>
          <p:cNvPr id="11" name="Text 1"/>
          <p:cNvSpPr/>
          <p:nvPr/>
        </p:nvSpPr>
        <p:spPr>
          <a:xfrm>
            <a:off x="784979" y="4195763"/>
            <a:ext cx="48768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Автоматизация экзаменов и превращение тестирования в инструмент персонального обучения</a:t>
            </a:r>
            <a:endParaRPr lang="en-US" sz="1800" dirty="0"/>
          </a:p>
        </p:txBody>
      </p:sp>
      <p:sp>
        <p:nvSpPr>
          <p:cNvPr id="12" name="Text 2"/>
          <p:cNvSpPr/>
          <p:nvPr/>
        </p:nvSpPr>
        <p:spPr>
          <a:xfrm>
            <a:off x="914400" y="6110288"/>
            <a:ext cx="1920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13" name="Text 3"/>
          <p:cNvSpPr/>
          <p:nvPr/>
        </p:nvSpPr>
        <p:spPr>
          <a:xfrm>
            <a:off x="2503289" y="6110288"/>
            <a:ext cx="14401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14" name="Text 4"/>
          <p:cNvSpPr/>
          <p:nvPr/>
        </p:nvSpPr>
        <p:spPr>
          <a:xfrm>
            <a:off x="3956893" y="6110288"/>
            <a:ext cx="1920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15" name="Text 5"/>
          <p:cNvSpPr/>
          <p:nvPr/>
        </p:nvSpPr>
        <p:spPr>
          <a:xfrm>
            <a:off x="762000" y="5791200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6" name="Text 6"/>
          <p:cNvSpPr/>
          <p:nvPr/>
        </p:nvSpPr>
        <p:spPr>
          <a:xfrm>
            <a:off x="762000" y="6019800"/>
            <a:ext cx="3009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10022086" y="5410200"/>
            <a:ext cx="26060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18" name="Text 8"/>
          <p:cNvSpPr/>
          <p:nvPr/>
        </p:nvSpPr>
        <p:spPr>
          <a:xfrm>
            <a:off x="10022086" y="5619750"/>
            <a:ext cx="2971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6251BF-87D5-6E55-D597-297C44F20AD8}"/>
              </a:ext>
            </a:extLst>
          </p:cNvPr>
          <p:cNvSpPr txBox="1"/>
          <p:nvPr/>
        </p:nvSpPr>
        <p:spPr>
          <a:xfrm>
            <a:off x="707355" y="5266015"/>
            <a:ext cx="6499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KZ" dirty="0"/>
              <a:t>Energo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F5614-3281-1776-574D-BBC3768621EA}"/>
              </a:ext>
            </a:extLst>
          </p:cNvPr>
          <p:cNvSpPr txBox="1"/>
          <p:nvPr/>
        </p:nvSpPr>
        <p:spPr>
          <a:xfrm>
            <a:off x="665748" y="5663684"/>
            <a:ext cx="6497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KZ" dirty="0"/>
              <a:t>илиев шухрат,гребенников илья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E66FDD-7F32-F8CE-DF73-D380A9599090}"/>
              </a:ext>
            </a:extLst>
          </p:cNvPr>
          <p:cNvSpPr txBox="1"/>
          <p:nvPr/>
        </p:nvSpPr>
        <p:spPr>
          <a:xfrm>
            <a:off x="665748" y="6157674"/>
            <a:ext cx="6497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KZ" dirty="0"/>
              <a:t>преподователь: Хичика Камиль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19200"/>
            <a:ext cx="1219200" cy="571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33550"/>
            <a:ext cx="5257800" cy="3581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038350"/>
            <a:ext cx="2857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667000"/>
            <a:ext cx="142875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429000"/>
            <a:ext cx="142875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191000"/>
            <a:ext cx="142875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1733550"/>
            <a:ext cx="5257800" cy="3581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2209800"/>
            <a:ext cx="219075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3009900"/>
            <a:ext cx="1333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3771900"/>
            <a:ext cx="1333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4533900"/>
            <a:ext cx="13335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5772150"/>
            <a:ext cx="10972800" cy="1066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615315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38975" y="6057900"/>
            <a:ext cx="9525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58325" y="6057900"/>
            <a:ext cx="9525" cy="3810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09600" y="609600"/>
            <a:ext cx="175564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Проблематика и концепция системы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1352550" y="2038350"/>
            <a:ext cx="65151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Традиционный подход</a:t>
            </a:r>
            <a:endParaRPr lang="en-US" sz="2250" dirty="0"/>
          </a:p>
        </p:txBody>
      </p:sp>
      <p:sp>
        <p:nvSpPr>
          <p:cNvPr id="20" name="Text 2"/>
          <p:cNvSpPr/>
          <p:nvPr/>
        </p:nvSpPr>
        <p:spPr>
          <a:xfrm>
            <a:off x="1171575" y="2609850"/>
            <a:ext cx="439102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Экзамены как </a:t>
            </a: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стрессовое испытание</a:t>
            </a: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а не этап обучения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1171575" y="3371850"/>
            <a:ext cx="439102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Простая оценка знаний без </a:t>
            </a: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глубокого анализа</a:t>
            </a: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пробелов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1171575" y="4133850"/>
            <a:ext cx="439102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Неэффективное управление</a:t>
            </a: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аудиторным фондом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7000875" y="2038350"/>
            <a:ext cx="427672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Интеллектуальная концепция</a:t>
            </a:r>
            <a:endParaRPr lang="en-US" sz="2250" dirty="0"/>
          </a:p>
        </p:txBody>
      </p:sp>
      <p:sp>
        <p:nvSpPr>
          <p:cNvPr id="24" name="Text 6"/>
          <p:cNvSpPr/>
          <p:nvPr/>
        </p:nvSpPr>
        <p:spPr>
          <a:xfrm>
            <a:off x="6877050" y="2952750"/>
            <a:ext cx="4400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AI-генерация</a:t>
            </a: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уникальных тестов под уровень студента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6877050" y="3714750"/>
            <a:ext cx="4400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Трансформация теста в </a:t>
            </a: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 наставничества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6877050" y="4476750"/>
            <a:ext cx="4400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Умный кампус:</a:t>
            </a: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бронирование через IP-камеры и ТГ-бота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1219200" y="6000750"/>
            <a:ext cx="355282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Переход от контроля к развитию компетенций</a:t>
            </a:r>
            <a:endParaRPr lang="en-US" sz="1800" dirty="0"/>
          </a:p>
        </p:txBody>
      </p:sp>
      <p:sp>
        <p:nvSpPr>
          <p:cNvPr id="28" name="Text 10"/>
          <p:cNvSpPr/>
          <p:nvPr/>
        </p:nvSpPr>
        <p:spPr>
          <a:xfrm>
            <a:off x="3832860" y="6057900"/>
            <a:ext cx="3840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Персонализация</a:t>
            </a:r>
            <a:endParaRPr lang="en-US" sz="1800" dirty="0"/>
          </a:p>
        </p:txBody>
      </p:sp>
      <p:sp>
        <p:nvSpPr>
          <p:cNvPr id="29" name="Text 11"/>
          <p:cNvSpPr/>
          <p:nvPr/>
        </p:nvSpPr>
        <p:spPr>
          <a:xfrm>
            <a:off x="4772025" y="6362700"/>
            <a:ext cx="19621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kern="0" spc="8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6470332" y="6057900"/>
            <a:ext cx="35661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Автоматизация</a:t>
            </a:r>
            <a:endParaRPr lang="en-US" sz="1800" dirty="0"/>
          </a:p>
        </p:txBody>
      </p:sp>
      <p:sp>
        <p:nvSpPr>
          <p:cNvPr id="31" name="Text 13"/>
          <p:cNvSpPr/>
          <p:nvPr/>
        </p:nvSpPr>
        <p:spPr>
          <a:xfrm>
            <a:off x="7353300" y="6362700"/>
            <a:ext cx="18002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kern="0" spc="8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</a:t>
            </a:r>
            <a:endParaRPr lang="en-US" sz="1050" dirty="0"/>
          </a:p>
        </p:txBody>
      </p:sp>
      <p:sp>
        <p:nvSpPr>
          <p:cNvPr id="32" name="Text 14"/>
          <p:cNvSpPr/>
          <p:nvPr/>
        </p:nvSpPr>
        <p:spPr>
          <a:xfrm>
            <a:off x="9054465" y="6057900"/>
            <a:ext cx="30175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</a:t>
            </a:r>
            <a:endParaRPr lang="en-US" sz="1800" dirty="0"/>
          </a:p>
        </p:txBody>
      </p:sp>
      <p:sp>
        <p:nvSpPr>
          <p:cNvPr id="33" name="Text 15"/>
          <p:cNvSpPr/>
          <p:nvPr/>
        </p:nvSpPr>
        <p:spPr>
          <a:xfrm>
            <a:off x="9772650" y="6362700"/>
            <a:ext cx="15811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kern="0" spc="8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РЕСУРСЫ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19200"/>
            <a:ext cx="1524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972" y="1885950"/>
            <a:ext cx="914400" cy="914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4722" y="2152650"/>
            <a:ext cx="3429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1344" y="2343150"/>
            <a:ext cx="14287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2191" y="1885950"/>
            <a:ext cx="914400" cy="914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7941" y="2152650"/>
            <a:ext cx="3429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4563" y="2343150"/>
            <a:ext cx="14287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5409" y="1885950"/>
            <a:ext cx="914400" cy="914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1159" y="2152650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7781" y="2343150"/>
            <a:ext cx="14287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78628" y="1885950"/>
            <a:ext cx="914400" cy="914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83428" y="2152650"/>
            <a:ext cx="3048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914900"/>
            <a:ext cx="10972800" cy="1333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" y="5276850"/>
            <a:ext cx="5334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6800" y="5429250"/>
            <a:ext cx="228600" cy="3048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9600" y="609600"/>
            <a:ext cx="153619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Индивидуальный путь студента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79772" y="3028950"/>
            <a:ext cx="335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Регистрация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609600" y="3409950"/>
            <a:ext cx="2293144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вход в систему и авторизация в личном кабинете студента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3201591" y="3028950"/>
            <a:ext cx="2895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Настройка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3502819" y="3409950"/>
            <a:ext cx="2293144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Выбор предмета и желаемого уровня сложности теста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5751909" y="3028950"/>
            <a:ext cx="3581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AI Генерация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6396038" y="3409950"/>
            <a:ext cx="2293144" cy="990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уникального набора вопросов, исключающее заучивание ответов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8988028" y="3028950"/>
            <a:ext cx="2895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Результат</a:t>
            </a:r>
            <a:endParaRPr lang="en-US" sz="1500" dirty="0"/>
          </a:p>
        </p:txBody>
      </p:sp>
      <p:sp>
        <p:nvSpPr>
          <p:cNvPr id="27" name="Text 8"/>
          <p:cNvSpPr/>
          <p:nvPr/>
        </p:nvSpPr>
        <p:spPr>
          <a:xfrm>
            <a:off x="9289256" y="3409950"/>
            <a:ext cx="2293144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Мгновенная автоматическая проверка и расчет баллов системой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1752600" y="5219700"/>
            <a:ext cx="952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Адаптивность и честность</a:t>
            </a:r>
            <a:endParaRPr lang="en-US" sz="1350" dirty="0"/>
          </a:p>
        </p:txBody>
      </p:sp>
      <p:sp>
        <p:nvSpPr>
          <p:cNvPr id="29" name="Text 10"/>
          <p:cNvSpPr/>
          <p:nvPr/>
        </p:nvSpPr>
        <p:spPr>
          <a:xfrm>
            <a:off x="1752600" y="5486400"/>
            <a:ext cx="9525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Алгоритмы ИИ гарантируют, что каждый тест уникален, адаптирован под уровень студента и направлен на реальное понимание материала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24000"/>
            <a:ext cx="12192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28800"/>
            <a:ext cx="2705100" cy="1828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1336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4700" y="1828800"/>
            <a:ext cx="2705100" cy="1828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5200" y="2019300"/>
            <a:ext cx="533400" cy="533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3313" y="2133600"/>
            <a:ext cx="2571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1828800"/>
            <a:ext cx="2705100" cy="1828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21336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700" y="1828800"/>
            <a:ext cx="2705100" cy="1828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0200" y="2019300"/>
            <a:ext cx="533400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72600" y="21336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3886200"/>
            <a:ext cx="7289899" cy="1524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4352925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75699" y="3886200"/>
            <a:ext cx="3759101" cy="1524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66199" y="4991100"/>
            <a:ext cx="790575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32974" y="4991100"/>
            <a:ext cx="762000" cy="2286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57200" y="457200"/>
            <a:ext cx="112776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Интеллектуальное наставничество и аналитика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647700" y="2667000"/>
            <a:ext cx="342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Глубокий анализ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647700" y="3009900"/>
            <a:ext cx="2324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выявляет логические пробелы в понимании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3505200" y="2667000"/>
            <a:ext cx="2743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Рекомендации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3505200" y="3009900"/>
            <a:ext cx="2324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Персонализированный список тем для повторения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6362700" y="2667000"/>
            <a:ext cx="251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Закрепление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6362700" y="3009900"/>
            <a:ext cx="2324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Генерация дополнительных заданий для слабых зон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9220200" y="2667000"/>
            <a:ext cx="2324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История</a:t>
            </a:r>
            <a:endParaRPr lang="en-US" sz="1500" dirty="0"/>
          </a:p>
        </p:txBody>
      </p:sp>
      <p:sp>
        <p:nvSpPr>
          <p:cNvPr id="27" name="Text 8"/>
          <p:cNvSpPr/>
          <p:nvPr/>
        </p:nvSpPr>
        <p:spPr>
          <a:xfrm>
            <a:off x="9220200" y="3009900"/>
            <a:ext cx="2324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Архив тестов и прогресса в личном кабинете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952500" y="4352925"/>
            <a:ext cx="4343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Траектория обучения</a:t>
            </a:r>
            <a:endParaRPr lang="en-US" sz="1500" dirty="0"/>
          </a:p>
        </p:txBody>
      </p:sp>
      <p:sp>
        <p:nvSpPr>
          <p:cNvPr id="29" name="Text 10"/>
          <p:cNvSpPr/>
          <p:nvPr/>
        </p:nvSpPr>
        <p:spPr>
          <a:xfrm>
            <a:off x="647700" y="4695825"/>
            <a:ext cx="128016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отслеживает динамику и визуализирует рост компетенций студента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8166199" y="4114800"/>
            <a:ext cx="192024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84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СИСТЕМЫ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8166199" y="4343400"/>
            <a:ext cx="337810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Превратить тест в </a:t>
            </a:r>
            <a:r>
              <a:rPr lang="en-US" sz="1500" b="1" dirty="0">
                <a:solidFill>
                  <a:srgbClr val="7FB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персональный план</a:t>
            </a:r>
            <a:endParaRPr lang="en-US" sz="1500" dirty="0"/>
          </a:p>
        </p:txBody>
      </p:sp>
      <p:sp>
        <p:nvSpPr>
          <p:cNvPr id="32" name="Text 13"/>
          <p:cNvSpPr/>
          <p:nvPr/>
        </p:nvSpPr>
        <p:spPr>
          <a:xfrm>
            <a:off x="8242399" y="4991100"/>
            <a:ext cx="9964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MENTOR</a:t>
            </a:r>
            <a:endParaRPr lang="en-US" sz="900" dirty="0"/>
          </a:p>
        </p:txBody>
      </p:sp>
      <p:sp>
        <p:nvSpPr>
          <p:cNvPr id="33" name="Text 14"/>
          <p:cNvSpPr/>
          <p:nvPr/>
        </p:nvSpPr>
        <p:spPr>
          <a:xfrm>
            <a:off x="9109174" y="4991100"/>
            <a:ext cx="9875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76400"/>
            <a:ext cx="1219200" cy="571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190750"/>
            <a:ext cx="3454301" cy="31718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5300" y="2686050"/>
            <a:ext cx="3429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8701" y="2190750"/>
            <a:ext cx="3454450" cy="31718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4851" y="2495550"/>
            <a:ext cx="762000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4401" y="2686050"/>
            <a:ext cx="3429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7950" y="2190750"/>
            <a:ext cx="3454301" cy="31718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02701" y="2686050"/>
            <a:ext cx="3048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451" y="5562600"/>
            <a:ext cx="10972800" cy="1409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525" y="6029325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0833" y="5734301"/>
            <a:ext cx="1589484" cy="685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40625" y="6071435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32242" y="5734301"/>
            <a:ext cx="2107257" cy="685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51677" y="6143625"/>
            <a:ext cx="133350" cy="1524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609600" y="609600"/>
            <a:ext cx="109728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Инструменты мониторинга для преподавателя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5030" y="3486150"/>
            <a:ext cx="46634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Сводная аналитика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914400" y="3943350"/>
            <a:ext cx="2844701" cy="8358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Доступ к общей статистике успеваемости всей группы для оценки эффективности обучения</a:t>
            </a:r>
            <a:endParaRPr lang="en-US" sz="1350" dirty="0"/>
          </a:p>
        </p:txBody>
      </p:sp>
      <p:sp>
        <p:nvSpPr>
          <p:cNvPr id="20" name="Text 3"/>
          <p:cNvSpPr/>
          <p:nvPr/>
        </p:nvSpPr>
        <p:spPr>
          <a:xfrm>
            <a:off x="3352651" y="348615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Выявление слабых тем</a:t>
            </a:r>
            <a:endParaRPr lang="en-US" sz="1800" dirty="0"/>
          </a:p>
        </p:txBody>
      </p:sp>
      <p:sp>
        <p:nvSpPr>
          <p:cNvPr id="21" name="Text 4"/>
          <p:cNvSpPr/>
          <p:nvPr/>
        </p:nvSpPr>
        <p:spPr>
          <a:xfrm>
            <a:off x="4673501" y="3943350"/>
            <a:ext cx="2844850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Автоматическое определение тем, вызывающих затруднения, для корректировки учебного плана</a:t>
            </a:r>
            <a:endParaRPr lang="en-US" sz="1350" dirty="0"/>
          </a:p>
        </p:txBody>
      </p:sp>
      <p:sp>
        <p:nvSpPr>
          <p:cNvPr id="22" name="Text 5"/>
          <p:cNvSpPr/>
          <p:nvPr/>
        </p:nvSpPr>
        <p:spPr>
          <a:xfrm>
            <a:off x="7249061" y="3486150"/>
            <a:ext cx="52120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Мониторинг динамики</a:t>
            </a:r>
            <a:endParaRPr lang="en-US" sz="1800" dirty="0"/>
          </a:p>
        </p:txBody>
      </p:sp>
      <p:sp>
        <p:nvSpPr>
          <p:cNvPr id="23" name="Text 6"/>
          <p:cNvSpPr/>
          <p:nvPr/>
        </p:nvSpPr>
        <p:spPr>
          <a:xfrm>
            <a:off x="8432750" y="3943350"/>
            <a:ext cx="2844701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Отслеживание сильных и слабых сторон каждого студента и динамики их результатов во времени</a:t>
            </a:r>
            <a:endParaRPr lang="en-US" sz="1350" dirty="0"/>
          </a:p>
        </p:txBody>
      </p:sp>
      <p:sp>
        <p:nvSpPr>
          <p:cNvPr id="24" name="Text 7"/>
          <p:cNvSpPr/>
          <p:nvPr/>
        </p:nvSpPr>
        <p:spPr>
          <a:xfrm>
            <a:off x="914400" y="5653338"/>
            <a:ext cx="599970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Автоматизация рутины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1219200" y="6010776"/>
            <a:ext cx="599970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берет на себя создание и проверку тестов, высвобождая время для индивидуальной работы и развития потенциала студентов</a:t>
            </a:r>
            <a:endParaRPr lang="en-US" sz="1350" dirty="0"/>
          </a:p>
        </p:txBody>
      </p:sp>
      <p:sp>
        <p:nvSpPr>
          <p:cNvPr id="26" name="Text 9"/>
          <p:cNvSpPr/>
          <p:nvPr/>
        </p:nvSpPr>
        <p:spPr>
          <a:xfrm>
            <a:off x="7881417" y="5887201"/>
            <a:ext cx="82748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AI-проверка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9437042" y="6010776"/>
            <a:ext cx="1214437" cy="3331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решения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19200"/>
            <a:ext cx="1219200" cy="571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33550"/>
            <a:ext cx="5257800" cy="548401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5" y="2171700"/>
            <a:ext cx="3619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998119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379119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760119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236369"/>
            <a:ext cx="4648200" cy="68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2681" y="5503069"/>
            <a:ext cx="952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4819" y="5503069"/>
            <a:ext cx="952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1733550"/>
            <a:ext cx="5257800" cy="548401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203835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53225" y="2171700"/>
            <a:ext cx="3619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3998119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9400" y="4607719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5217319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9400" y="5998369"/>
            <a:ext cx="4648200" cy="914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9600" y="609600"/>
            <a:ext cx="120700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Интерактивное обучение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1676400" y="2171700"/>
            <a:ext cx="37719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Дебаты с ИИ</a:t>
            </a:r>
            <a:endParaRPr lang="en-US" sz="2250" dirty="0"/>
          </a:p>
        </p:txBody>
      </p:sp>
      <p:sp>
        <p:nvSpPr>
          <p:cNvPr id="21" name="Text 2"/>
          <p:cNvSpPr/>
          <p:nvPr/>
        </p:nvSpPr>
        <p:spPr>
          <a:xfrm>
            <a:off x="914400" y="2876550"/>
            <a:ext cx="4648200" cy="8358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Развитие навыков аргументации и критического мышления через дискуссию с искусственным интеллектом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1181100" y="3940969"/>
            <a:ext cx="7680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выступает в роли </a:t>
            </a:r>
            <a:r>
              <a:rPr lang="en-US" sz="1200" b="1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оппонента</a:t>
            </a: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или эксперта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1181100" y="4321969"/>
            <a:ext cx="8778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Генерация неожиданных вопросов и контраргументов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1181100" y="4702969"/>
            <a:ext cx="6583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Отработка быстрой реакции на критику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1081088" y="5388769"/>
            <a:ext cx="914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 1</a:t>
            </a:r>
            <a:endParaRPr lang="en-US" sz="900" dirty="0"/>
          </a:p>
        </p:txBody>
      </p:sp>
      <p:sp>
        <p:nvSpPr>
          <p:cNvPr id="26" name="Text 7"/>
          <p:cNvSpPr/>
          <p:nvPr/>
        </p:nvSpPr>
        <p:spPr>
          <a:xfrm>
            <a:off x="738187" y="5579269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Подготовка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2924175" y="5388769"/>
            <a:ext cx="914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 2</a:t>
            </a:r>
            <a:endParaRPr lang="en-US" sz="900" dirty="0"/>
          </a:p>
        </p:txBody>
      </p:sp>
      <p:sp>
        <p:nvSpPr>
          <p:cNvPr id="28" name="Text 9"/>
          <p:cNvSpPr/>
          <p:nvPr/>
        </p:nvSpPr>
        <p:spPr>
          <a:xfrm>
            <a:off x="2581275" y="5579269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Проведение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4624388" y="5388769"/>
            <a:ext cx="914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 3</a:t>
            </a:r>
            <a:endParaRPr lang="en-US" sz="900" dirty="0"/>
          </a:p>
        </p:txBody>
      </p:sp>
      <p:sp>
        <p:nvSpPr>
          <p:cNvPr id="30" name="Text 11"/>
          <p:cNvSpPr/>
          <p:nvPr/>
        </p:nvSpPr>
        <p:spPr>
          <a:xfrm>
            <a:off x="4601528" y="5579269"/>
            <a:ext cx="9601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7391400" y="2171700"/>
            <a:ext cx="72009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Стать учителем для ИИ</a:t>
            </a:r>
            <a:endParaRPr lang="en-US" sz="2250" dirty="0"/>
          </a:p>
        </p:txBody>
      </p:sp>
      <p:sp>
        <p:nvSpPr>
          <p:cNvPr id="32" name="Text 13"/>
          <p:cNvSpPr/>
          <p:nvPr/>
        </p:nvSpPr>
        <p:spPr>
          <a:xfrm>
            <a:off x="6629400" y="2876550"/>
            <a:ext cx="4648200" cy="8358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 «обучения через объяснение»: студент структурирует материал для передачи знаний системе</a:t>
            </a:r>
            <a:endParaRPr lang="en-US" sz="1350" dirty="0"/>
          </a:p>
        </p:txBody>
      </p:sp>
      <p:sp>
        <p:nvSpPr>
          <p:cNvPr id="33" name="Text 14"/>
          <p:cNvSpPr/>
          <p:nvPr/>
        </p:nvSpPr>
        <p:spPr>
          <a:xfrm>
            <a:off x="6877050" y="3940969"/>
            <a:ext cx="4400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FB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Глубокое понимание:</a:t>
            </a: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объяснение требует четкой структуры мыслей</a:t>
            </a:r>
            <a:endParaRPr lang="en-US" sz="1200" dirty="0"/>
          </a:p>
        </p:txBody>
      </p:sp>
      <p:sp>
        <p:nvSpPr>
          <p:cNvPr id="34" name="Text 15"/>
          <p:cNvSpPr/>
          <p:nvPr/>
        </p:nvSpPr>
        <p:spPr>
          <a:xfrm>
            <a:off x="6896100" y="4550569"/>
            <a:ext cx="4381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FB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Выявление пробелов:</a:t>
            </a: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сложности в объяснении указывают на слабые места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6896100" y="5160169"/>
            <a:ext cx="4381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FB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Закрепление:</a:t>
            </a: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активная переработка информации улучшает память</a:t>
            </a:r>
            <a:endParaRPr lang="en-US" sz="1200" dirty="0"/>
          </a:p>
        </p:txBody>
      </p:sp>
      <p:sp>
        <p:nvSpPr>
          <p:cNvPr id="36" name="Text 17"/>
          <p:cNvSpPr/>
          <p:nvPr/>
        </p:nvSpPr>
        <p:spPr>
          <a:xfrm>
            <a:off x="6858000" y="6226969"/>
            <a:ext cx="4191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«Если вы не можете объяснить это просто — значит, вы сами не понимаете этого до конца»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19200"/>
            <a:ext cx="9144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52600"/>
            <a:ext cx="10972800" cy="2400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2372" y="2133600"/>
            <a:ext cx="7620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1447" y="2343150"/>
            <a:ext cx="3238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6144" y="2828925"/>
            <a:ext cx="142875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0791" y="2133600"/>
            <a:ext cx="76200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8916" y="2343150"/>
            <a:ext cx="2857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4563" y="2828925"/>
            <a:ext cx="142875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9209" y="2228850"/>
            <a:ext cx="7620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80672" y="2438400"/>
            <a:ext cx="219075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2981" y="2828925"/>
            <a:ext cx="142875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7628" y="2133600"/>
            <a:ext cx="76200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54803" y="2343150"/>
            <a:ext cx="2476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533900"/>
            <a:ext cx="5334000" cy="23812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" y="5543550"/>
            <a:ext cx="133350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400" y="5886450"/>
            <a:ext cx="1143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400" y="6229350"/>
            <a:ext cx="171450" cy="190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48400" y="4533900"/>
            <a:ext cx="5334000" cy="238125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609600" y="609600"/>
            <a:ext cx="142646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Умное пространство </a:t>
            </a:r>
            <a:r>
              <a:rPr lang="en-US" sz="3600" b="1" dirty="0">
                <a:solidFill>
                  <a:srgbClr val="7FB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кампуса</a:t>
            </a:r>
            <a:endParaRPr lang="en-US" sz="3600" dirty="0"/>
          </a:p>
        </p:txBody>
      </p:sp>
      <p:sp>
        <p:nvSpPr>
          <p:cNvPr id="23" name="Text 1"/>
          <p:cNvSpPr/>
          <p:nvPr/>
        </p:nvSpPr>
        <p:spPr>
          <a:xfrm>
            <a:off x="1287542" y="3048000"/>
            <a:ext cx="18516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kern="0" spc="27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IP-КАМЕРЫ</a:t>
            </a:r>
            <a:endParaRPr lang="en-US" sz="1350" dirty="0"/>
          </a:p>
        </p:txBody>
      </p:sp>
      <p:sp>
        <p:nvSpPr>
          <p:cNvPr id="24" name="Text 2"/>
          <p:cNvSpPr/>
          <p:nvPr/>
        </p:nvSpPr>
        <p:spPr>
          <a:xfrm>
            <a:off x="990600" y="3390900"/>
            <a:ext cx="244554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 визуальных данных в режиме реального времени</a:t>
            </a:r>
            <a:endParaRPr lang="en-US" sz="1050" dirty="0"/>
          </a:p>
        </p:txBody>
      </p:sp>
      <p:sp>
        <p:nvSpPr>
          <p:cNvPr id="25" name="Text 3"/>
          <p:cNvSpPr/>
          <p:nvPr/>
        </p:nvSpPr>
        <p:spPr>
          <a:xfrm>
            <a:off x="3875961" y="3048000"/>
            <a:ext cx="18516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kern="0" spc="27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НЕЙРОСЕТЬ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3579019" y="3390900"/>
            <a:ext cx="244554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занятости мест без распознавания лиц</a:t>
            </a:r>
            <a:endParaRPr lang="en-US" sz="1050" dirty="0"/>
          </a:p>
        </p:txBody>
      </p:sp>
      <p:sp>
        <p:nvSpPr>
          <p:cNvPr id="27" name="Text 5"/>
          <p:cNvSpPr/>
          <p:nvPr/>
        </p:nvSpPr>
        <p:spPr>
          <a:xfrm>
            <a:off x="6772915" y="3143250"/>
            <a:ext cx="12344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kern="0" spc="27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ДОСТУП</a:t>
            </a:r>
            <a:endParaRPr lang="en-US" sz="1350" dirty="0"/>
          </a:p>
        </p:txBody>
      </p:sp>
      <p:sp>
        <p:nvSpPr>
          <p:cNvPr id="28" name="Text 6"/>
          <p:cNvSpPr/>
          <p:nvPr/>
        </p:nvSpPr>
        <p:spPr>
          <a:xfrm>
            <a:off x="4989909" y="3486150"/>
            <a:ext cx="4800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Веб-интерфейс или Telegram-бот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9464278" y="3048000"/>
            <a:ext cx="1028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kern="0" spc="27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БРОНЬ</a:t>
            </a:r>
            <a:endParaRPr lang="en-US" sz="1350" dirty="0"/>
          </a:p>
        </p:txBody>
      </p:sp>
      <p:sp>
        <p:nvSpPr>
          <p:cNvPr id="30" name="Text 8"/>
          <p:cNvSpPr/>
          <p:nvPr/>
        </p:nvSpPr>
        <p:spPr>
          <a:xfrm>
            <a:off x="8755856" y="3390900"/>
            <a:ext cx="244554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Мгновенное резервирование аудитории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914400" y="4838700"/>
            <a:ext cx="4724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ТЕХНОЛОГИЧЕСКИЙ СТЕК</a:t>
            </a:r>
            <a:endParaRPr lang="en-US" sz="900" dirty="0"/>
          </a:p>
        </p:txBody>
      </p:sp>
      <p:sp>
        <p:nvSpPr>
          <p:cNvPr id="32" name="Text 10"/>
          <p:cNvSpPr/>
          <p:nvPr/>
        </p:nvSpPr>
        <p:spPr>
          <a:xfrm>
            <a:off x="914400" y="5067300"/>
            <a:ext cx="57607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Vision &amp; IoT</a:t>
            </a:r>
            <a:endParaRPr lang="en-US" sz="1800" dirty="0"/>
          </a:p>
        </p:txBody>
      </p:sp>
      <p:sp>
        <p:nvSpPr>
          <p:cNvPr id="33" name="Text 11"/>
          <p:cNvSpPr/>
          <p:nvPr/>
        </p:nvSpPr>
        <p:spPr>
          <a:xfrm>
            <a:off x="1162050" y="5524500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Приватность: данные не содержат лиц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1143000" y="5867400"/>
            <a:ext cx="472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Онлайн-мониторинг 24/7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1200150" y="6210300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Telegram-бот для быстрого поиска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6553200" y="4838700"/>
            <a:ext cx="4724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7FB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ЭФФЕКТИВНОСТЬ</a:t>
            </a:r>
            <a:endParaRPr lang="en-US" sz="900" dirty="0"/>
          </a:p>
        </p:txBody>
      </p:sp>
      <p:sp>
        <p:nvSpPr>
          <p:cNvPr id="37" name="Text 15"/>
          <p:cNvSpPr/>
          <p:nvPr/>
        </p:nvSpPr>
        <p:spPr>
          <a:xfrm>
            <a:off x="6553200" y="5067300"/>
            <a:ext cx="4724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 фонда</a:t>
            </a:r>
            <a:endParaRPr lang="en-US" sz="1800" dirty="0"/>
          </a:p>
        </p:txBody>
      </p:sp>
      <p:sp>
        <p:nvSpPr>
          <p:cNvPr id="38" name="Text 16"/>
          <p:cNvSpPr/>
          <p:nvPr/>
        </p:nvSpPr>
        <p:spPr>
          <a:xfrm>
            <a:off x="6553200" y="5524500"/>
            <a:ext cx="4724400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выявляет незанятые помещения по расписанию и предоставляет студентам информацию о свободных пространствах, решая проблему дефицита в пиковые часы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6762750" y="6419850"/>
            <a:ext cx="4724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19200"/>
            <a:ext cx="18288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52600"/>
            <a:ext cx="3454301" cy="3886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988" y="2133600"/>
            <a:ext cx="200025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781300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467100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152900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838700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8701" y="1752600"/>
            <a:ext cx="3454450" cy="3886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3501" y="20574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9226" y="2133600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3501" y="2781300"/>
            <a:ext cx="17145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3501" y="3467100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3501" y="4152900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3501" y="4838700"/>
            <a:ext cx="17145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7950" y="1752600"/>
            <a:ext cx="3454301" cy="3886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2750" y="2057400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47050" y="21336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2750" y="2781300"/>
            <a:ext cx="171450" cy="1714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2750" y="3467100"/>
            <a:ext cx="171450" cy="1714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2750" y="4152900"/>
            <a:ext cx="171450" cy="171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2750" y="4838700"/>
            <a:ext cx="171450" cy="1714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6096000"/>
            <a:ext cx="10972800" cy="762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19238" y="6324600"/>
            <a:ext cx="228600" cy="3048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609600"/>
            <a:ext cx="170078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Ключевые преимущества платформы</a:t>
            </a:r>
            <a:endParaRPr lang="en-US" sz="3600" dirty="0"/>
          </a:p>
        </p:txBody>
      </p:sp>
      <p:sp>
        <p:nvSpPr>
          <p:cNvPr id="27" name="Text 1"/>
          <p:cNvSpPr/>
          <p:nvPr/>
        </p:nvSpPr>
        <p:spPr>
          <a:xfrm>
            <a:off x="1524000" y="2133600"/>
            <a:ext cx="24688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Студентам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1200150" y="27432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Персональный путь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обучения и темп</a:t>
            </a:r>
            <a:endParaRPr lang="en-US" sz="1350" dirty="0"/>
          </a:p>
        </p:txBody>
      </p:sp>
      <p:sp>
        <p:nvSpPr>
          <p:cNvPr id="29" name="Text 3"/>
          <p:cNvSpPr/>
          <p:nvPr/>
        </p:nvSpPr>
        <p:spPr>
          <a:xfrm>
            <a:off x="1200150" y="34290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Мгновенная связь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разбор ошибок</a:t>
            </a:r>
            <a:endParaRPr lang="en-US" sz="1350" dirty="0"/>
          </a:p>
        </p:txBody>
      </p:sp>
      <p:sp>
        <p:nvSpPr>
          <p:cNvPr id="30" name="Text 4"/>
          <p:cNvSpPr/>
          <p:nvPr/>
        </p:nvSpPr>
        <p:spPr>
          <a:xfrm>
            <a:off x="1200150" y="41148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Рост вовлеченности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через дебаты с AI</a:t>
            </a:r>
            <a:endParaRPr lang="en-US" sz="1350" dirty="0"/>
          </a:p>
        </p:txBody>
      </p:sp>
      <p:sp>
        <p:nvSpPr>
          <p:cNvPr id="31" name="Text 5"/>
          <p:cNvSpPr/>
          <p:nvPr/>
        </p:nvSpPr>
        <p:spPr>
          <a:xfrm>
            <a:off x="1200150" y="48006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Экономия времени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 поиск аудиторий</a:t>
            </a:r>
            <a:endParaRPr lang="en-US" sz="1350" dirty="0"/>
          </a:p>
        </p:txBody>
      </p:sp>
      <p:sp>
        <p:nvSpPr>
          <p:cNvPr id="32" name="Text 6"/>
          <p:cNvSpPr/>
          <p:nvPr/>
        </p:nvSpPr>
        <p:spPr>
          <a:xfrm>
            <a:off x="5283101" y="2133600"/>
            <a:ext cx="3840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Преподавателям</a:t>
            </a:r>
            <a:endParaRPr lang="en-US" sz="1800" dirty="0"/>
          </a:p>
        </p:txBody>
      </p:sp>
      <p:sp>
        <p:nvSpPr>
          <p:cNvPr id="33" name="Text 7"/>
          <p:cNvSpPr/>
          <p:nvPr/>
        </p:nvSpPr>
        <p:spPr>
          <a:xfrm>
            <a:off x="4959251" y="2743200"/>
            <a:ext cx="2559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Автоматизация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тестов и проверки</a:t>
            </a:r>
            <a:endParaRPr lang="en-US" sz="1350" dirty="0"/>
          </a:p>
        </p:txBody>
      </p:sp>
      <p:sp>
        <p:nvSpPr>
          <p:cNvPr id="34" name="Text 8"/>
          <p:cNvSpPr/>
          <p:nvPr/>
        </p:nvSpPr>
        <p:spPr>
          <a:xfrm>
            <a:off x="4959251" y="3429000"/>
            <a:ext cx="2559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Глубокая аналитика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по всей группе</a:t>
            </a:r>
            <a:endParaRPr lang="en-US" sz="1350" dirty="0"/>
          </a:p>
        </p:txBody>
      </p:sp>
      <p:sp>
        <p:nvSpPr>
          <p:cNvPr id="35" name="Text 9"/>
          <p:cNvSpPr/>
          <p:nvPr/>
        </p:nvSpPr>
        <p:spPr>
          <a:xfrm>
            <a:off x="4959251" y="4114800"/>
            <a:ext cx="2559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Фокус на наставничестве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а не на рутине</a:t>
            </a:r>
            <a:endParaRPr lang="en-US" sz="1350" dirty="0"/>
          </a:p>
        </p:txBody>
      </p:sp>
      <p:sp>
        <p:nvSpPr>
          <p:cNvPr id="36" name="Text 10"/>
          <p:cNvSpPr/>
          <p:nvPr/>
        </p:nvSpPr>
        <p:spPr>
          <a:xfrm>
            <a:off x="4959251" y="4800600"/>
            <a:ext cx="2559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Выявление </a:t>
            </a: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системных пробелов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знаний</a:t>
            </a:r>
            <a:endParaRPr lang="en-US" sz="1350" dirty="0"/>
          </a:p>
        </p:txBody>
      </p:sp>
      <p:sp>
        <p:nvSpPr>
          <p:cNvPr id="37" name="Text 11"/>
          <p:cNvSpPr/>
          <p:nvPr/>
        </p:nvSpPr>
        <p:spPr>
          <a:xfrm>
            <a:off x="9042350" y="2133600"/>
            <a:ext cx="1097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ВУЗу</a:t>
            </a:r>
            <a:endParaRPr lang="en-US" sz="1800" dirty="0"/>
          </a:p>
        </p:txBody>
      </p:sp>
      <p:sp>
        <p:nvSpPr>
          <p:cNvPr id="38" name="Text 12"/>
          <p:cNvSpPr/>
          <p:nvPr/>
        </p:nvSpPr>
        <p:spPr>
          <a:xfrm>
            <a:off x="8718500" y="27432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аудиторного фонда</a:t>
            </a:r>
            <a:endParaRPr lang="en-US" sz="1350" dirty="0"/>
          </a:p>
        </p:txBody>
      </p:sp>
      <p:sp>
        <p:nvSpPr>
          <p:cNvPr id="39" name="Text 13"/>
          <p:cNvSpPr/>
          <p:nvPr/>
        </p:nvSpPr>
        <p:spPr>
          <a:xfrm>
            <a:off x="8718500" y="34290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Современный имидж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AI-среда</a:t>
            </a:r>
            <a:endParaRPr lang="en-US" sz="1350" dirty="0"/>
          </a:p>
        </p:txBody>
      </p:sp>
      <p:sp>
        <p:nvSpPr>
          <p:cNvPr id="40" name="Text 14"/>
          <p:cNvSpPr/>
          <p:nvPr/>
        </p:nvSpPr>
        <p:spPr>
          <a:xfrm>
            <a:off x="8718500" y="41148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Рост успеваемости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качества дипломов</a:t>
            </a:r>
            <a:endParaRPr lang="en-US" sz="1350" dirty="0"/>
          </a:p>
        </p:txBody>
      </p:sp>
      <p:sp>
        <p:nvSpPr>
          <p:cNvPr id="41" name="Text 15"/>
          <p:cNvSpPr/>
          <p:nvPr/>
        </p:nvSpPr>
        <p:spPr>
          <a:xfrm>
            <a:off x="8718500" y="48006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решения в управлении</a:t>
            </a:r>
            <a:endParaRPr lang="en-US" sz="1350" dirty="0"/>
          </a:p>
        </p:txBody>
      </p:sp>
      <p:sp>
        <p:nvSpPr>
          <p:cNvPr id="42" name="Text 16"/>
          <p:cNvSpPr/>
          <p:nvPr/>
        </p:nvSpPr>
        <p:spPr>
          <a:xfrm>
            <a:off x="1976438" y="6343650"/>
            <a:ext cx="18745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единой интеллектуальной экосистемы для эффективного обучения и управления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19200"/>
            <a:ext cx="1828800" cy="76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52600"/>
            <a:ext cx="3454301" cy="5524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21336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743200"/>
            <a:ext cx="2844701" cy="1638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3276600"/>
            <a:ext cx="13335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3810000"/>
            <a:ext cx="13335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610100"/>
            <a:ext cx="2844701" cy="1409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5143500"/>
            <a:ext cx="13335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5448300"/>
            <a:ext cx="13335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68701" y="1752600"/>
            <a:ext cx="3454450" cy="5524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3501" y="2133600"/>
            <a:ext cx="453479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7291" y="2209800"/>
            <a:ext cx="2857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73501" y="2933700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3501" y="3619500"/>
            <a:ext cx="219075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73501" y="4305300"/>
            <a:ext cx="152400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73501" y="4991100"/>
            <a:ext cx="219075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73501" y="5410200"/>
            <a:ext cx="133350" cy="1714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27950" y="1752600"/>
            <a:ext cx="3454301" cy="5524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32750" y="2133600"/>
            <a:ext cx="355997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96449" y="2209800"/>
            <a:ext cx="2286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32750" y="2933700"/>
            <a:ext cx="171450" cy="1714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32750" y="3886200"/>
            <a:ext cx="171450" cy="1714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32750" y="4838700"/>
            <a:ext cx="190500" cy="1714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32750" y="5524500"/>
            <a:ext cx="171450" cy="1714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32750" y="6477000"/>
            <a:ext cx="171450" cy="1714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9600" y="7734300"/>
            <a:ext cx="10972800" cy="990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8200" y="8077200"/>
            <a:ext cx="285750" cy="3048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609600" y="609600"/>
            <a:ext cx="1865376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Бизнес-модель и стратегия развития</a:t>
            </a:r>
            <a:endParaRPr lang="en-US" sz="3600" dirty="0"/>
          </a:p>
        </p:txBody>
      </p:sp>
      <p:sp>
        <p:nvSpPr>
          <p:cNvPr id="31" name="Text 1"/>
          <p:cNvSpPr/>
          <p:nvPr/>
        </p:nvSpPr>
        <p:spPr>
          <a:xfrm>
            <a:off x="1524000" y="2133600"/>
            <a:ext cx="30175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Монетизация</a:t>
            </a:r>
            <a:endParaRPr lang="en-US" sz="1800" dirty="0"/>
          </a:p>
        </p:txBody>
      </p:sp>
      <p:sp>
        <p:nvSpPr>
          <p:cNvPr id="32" name="Text 2"/>
          <p:cNvSpPr/>
          <p:nvPr/>
        </p:nvSpPr>
        <p:spPr>
          <a:xfrm>
            <a:off x="1066800" y="2895600"/>
            <a:ext cx="25399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FB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(ВУЗы)</a:t>
            </a:r>
            <a:endParaRPr lang="en-US" sz="1350" dirty="0"/>
          </a:p>
        </p:txBody>
      </p:sp>
      <p:sp>
        <p:nvSpPr>
          <p:cNvPr id="33" name="Text 3"/>
          <p:cNvSpPr/>
          <p:nvPr/>
        </p:nvSpPr>
        <p:spPr>
          <a:xfrm>
            <a:off x="1276350" y="3238500"/>
            <a:ext cx="23303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 лицензии по количеству студентов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1276350" y="3771900"/>
            <a:ext cx="23303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с существующими LMS</a:t>
            </a:r>
            <a:endParaRPr lang="en-US" sz="1200" dirty="0"/>
          </a:p>
        </p:txBody>
      </p:sp>
      <p:sp>
        <p:nvSpPr>
          <p:cNvPr id="35" name="Text 5"/>
          <p:cNvSpPr/>
          <p:nvPr/>
        </p:nvSpPr>
        <p:spPr>
          <a:xfrm>
            <a:off x="1066800" y="4762500"/>
            <a:ext cx="3017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A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B2C (Студенты)</a:t>
            </a:r>
            <a:endParaRPr lang="en-US" sz="1350" dirty="0"/>
          </a:p>
        </p:txBody>
      </p:sp>
      <p:sp>
        <p:nvSpPr>
          <p:cNvPr id="36" name="Text 6"/>
          <p:cNvSpPr/>
          <p:nvPr/>
        </p:nvSpPr>
        <p:spPr>
          <a:xfrm>
            <a:off x="1276350" y="5105400"/>
            <a:ext cx="3108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AI-тьютор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1276350" y="5410200"/>
            <a:ext cx="23303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Расширенная персональная аналитика</a:t>
            </a:r>
            <a:endParaRPr lang="en-US" sz="1200" dirty="0"/>
          </a:p>
        </p:txBody>
      </p:sp>
      <p:sp>
        <p:nvSpPr>
          <p:cNvPr id="38" name="Text 8"/>
          <p:cNvSpPr/>
          <p:nvPr/>
        </p:nvSpPr>
        <p:spPr>
          <a:xfrm>
            <a:off x="5279380" y="2057400"/>
            <a:ext cx="223897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Целевая аудитория</a:t>
            </a:r>
            <a:endParaRPr lang="en-US" sz="1800" dirty="0"/>
          </a:p>
        </p:txBody>
      </p:sp>
      <p:sp>
        <p:nvSpPr>
          <p:cNvPr id="39" name="Text 9"/>
          <p:cNvSpPr/>
          <p:nvPr/>
        </p:nvSpPr>
        <p:spPr>
          <a:xfrm>
            <a:off x="4959251" y="2895600"/>
            <a:ext cx="25591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Государственные и частные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университеты</a:t>
            </a:r>
            <a:endParaRPr lang="en-US" sz="1350" dirty="0"/>
          </a:p>
        </p:txBody>
      </p:sp>
      <p:sp>
        <p:nvSpPr>
          <p:cNvPr id="40" name="Text 10"/>
          <p:cNvSpPr/>
          <p:nvPr/>
        </p:nvSpPr>
        <p:spPr>
          <a:xfrm>
            <a:off x="5006876" y="3581400"/>
            <a:ext cx="251147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Образовательные центры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колледжи</a:t>
            </a:r>
            <a:endParaRPr lang="en-US" sz="1350" dirty="0"/>
          </a:p>
        </p:txBody>
      </p:sp>
      <p:sp>
        <p:nvSpPr>
          <p:cNvPr id="41" name="Text 11"/>
          <p:cNvSpPr/>
          <p:nvPr/>
        </p:nvSpPr>
        <p:spPr>
          <a:xfrm>
            <a:off x="4940201" y="4267200"/>
            <a:ext cx="25781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Студенты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стремящиеся к саморазвитию</a:t>
            </a:r>
            <a:endParaRPr lang="en-US" sz="1350" dirty="0"/>
          </a:p>
        </p:txBody>
      </p:sp>
      <p:sp>
        <p:nvSpPr>
          <p:cNvPr id="42" name="Text 12"/>
          <p:cNvSpPr/>
          <p:nvPr/>
        </p:nvSpPr>
        <p:spPr>
          <a:xfrm>
            <a:off x="5006876" y="49530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Преподаватели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методисты</a:t>
            </a:r>
            <a:endParaRPr lang="en-US" sz="1350" dirty="0"/>
          </a:p>
        </p:txBody>
      </p:sp>
      <p:sp>
        <p:nvSpPr>
          <p:cNvPr id="43" name="Text 13"/>
          <p:cNvSpPr/>
          <p:nvPr/>
        </p:nvSpPr>
        <p:spPr>
          <a:xfrm>
            <a:off x="4921151" y="5372100"/>
            <a:ext cx="2597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Корпоративные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университеты</a:t>
            </a:r>
            <a:endParaRPr lang="en-US" sz="1350" dirty="0"/>
          </a:p>
        </p:txBody>
      </p:sp>
      <p:sp>
        <p:nvSpPr>
          <p:cNvPr id="44" name="Text 14"/>
          <p:cNvSpPr/>
          <p:nvPr/>
        </p:nvSpPr>
        <p:spPr>
          <a:xfrm>
            <a:off x="8941147" y="2057400"/>
            <a:ext cx="2336304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Ключевые преимущества</a:t>
            </a:r>
            <a:endParaRPr lang="en-US" sz="1800" dirty="0"/>
          </a:p>
        </p:txBody>
      </p:sp>
      <p:sp>
        <p:nvSpPr>
          <p:cNvPr id="45" name="Text 15"/>
          <p:cNvSpPr/>
          <p:nvPr/>
        </p:nvSpPr>
        <p:spPr>
          <a:xfrm>
            <a:off x="8718500" y="2895600"/>
            <a:ext cx="2558951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Масштабируемость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решения для любого размера ВУЗа</a:t>
            </a:r>
            <a:endParaRPr lang="en-US" sz="1350" dirty="0"/>
          </a:p>
        </p:txBody>
      </p:sp>
      <p:sp>
        <p:nvSpPr>
          <p:cNvPr id="46" name="Text 16"/>
          <p:cNvSpPr/>
          <p:nvPr/>
        </p:nvSpPr>
        <p:spPr>
          <a:xfrm>
            <a:off x="8718500" y="3848100"/>
            <a:ext cx="2558951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Высокий ROI: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сокращение затрат на администрирование до 40%</a:t>
            </a:r>
            <a:endParaRPr lang="en-US" sz="1350" dirty="0"/>
          </a:p>
        </p:txBody>
      </p:sp>
      <p:sp>
        <p:nvSpPr>
          <p:cNvPr id="47" name="Text 17"/>
          <p:cNvSpPr/>
          <p:nvPr/>
        </p:nvSpPr>
        <p:spPr>
          <a:xfrm>
            <a:off x="8737550" y="4800600"/>
            <a:ext cx="253990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Повышение успеваемости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студентов на 15-20%</a:t>
            </a:r>
            <a:endParaRPr lang="en-US" sz="1350" dirty="0"/>
          </a:p>
        </p:txBody>
      </p:sp>
      <p:sp>
        <p:nvSpPr>
          <p:cNvPr id="48" name="Text 18"/>
          <p:cNvSpPr/>
          <p:nvPr/>
        </p:nvSpPr>
        <p:spPr>
          <a:xfrm>
            <a:off x="8718500" y="5486400"/>
            <a:ext cx="2558951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Экосистемный подход: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единая платформа для всех процессов</a:t>
            </a:r>
            <a:endParaRPr lang="en-US" sz="1350" dirty="0"/>
          </a:p>
        </p:txBody>
      </p:sp>
      <p:sp>
        <p:nvSpPr>
          <p:cNvPr id="49" name="Text 19"/>
          <p:cNvSpPr/>
          <p:nvPr/>
        </p:nvSpPr>
        <p:spPr>
          <a:xfrm>
            <a:off x="8718500" y="6438900"/>
            <a:ext cx="255895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Быстрое внедрение</a:t>
            </a:r>
            <a:r>
              <a:rPr lang="en-US" sz="13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интеграция</a:t>
            </a:r>
            <a:endParaRPr lang="en-US" sz="1350" dirty="0"/>
          </a:p>
        </p:txBody>
      </p:sp>
      <p:sp>
        <p:nvSpPr>
          <p:cNvPr id="50" name="Text 20"/>
          <p:cNvSpPr/>
          <p:nvPr/>
        </p:nvSpPr>
        <p:spPr>
          <a:xfrm>
            <a:off x="1352550" y="7962900"/>
            <a:ext cx="100012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612</Words>
  <Application>Microsoft Macintosh PowerPoint</Application>
  <PresentationFormat>Широкоэкранный</PresentationFormat>
  <Paragraphs>139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Демьян Чернов</cp:lastModifiedBy>
  <cp:revision>2</cp:revision>
  <dcterms:created xsi:type="dcterms:W3CDTF">2026-02-25T14:14:16Z</dcterms:created>
  <dcterms:modified xsi:type="dcterms:W3CDTF">2026-02-25T14:48:21Z</dcterms:modified>
</cp:coreProperties>
</file>